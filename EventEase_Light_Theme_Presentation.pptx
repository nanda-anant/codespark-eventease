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887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EventEase as the CodeSpark idea submitted to Code Carnival 3.0. It aims to connect college event registration and entry check-in. The source identifies Anant Nanda as team leader; other member names, course and academic year are not 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registration, capacity management and entry check-in are disconnected in the current process. The source identifies students, organisers and college administrators as affected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three roles. A student registers and receives a QR pass. EventEase validates capacity and registration. The organiser scans or enters the code. The source specifies database-level unique-key protection against duplicate check-ins.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the four capabilities listed in the source: event setup, QR-based registration passes, check-in by scan or code, and a dashboard. Duplicate prevention is described as enforced by a database unique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workflow in sequence: register, validate the form and capacity, save the registration and issue a QR pass, then scan at the venue. A second scan of the same code should be rejected and the dashboard updated.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lists HTML, CSS, JavaScript, Bootstrap and Chart.js for the frontend; PHP 8 with PDO, sessions and CSRF tokens for the backend; MySQL for storage; QR generation/scanning libraries; XAMPP or a PHP host; and Git, GitHub, VS Code and phpMyAdmin.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Clearly separate work described as completed from work listed as in progress. Testing, event editing, image upload, waitlist/email functions and public repository/demo preparation are not presented as complete in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staged roadmap: finish testing and polish the demo first; then develop event editing, waitlist and communication features; later consider multi-college support and a pilot at a real college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by inviting questions. The source contains a placeholder GitHub URL rather than a confirmed repository link. Replace it before presenting. The source identifies Anant Nanda as team leader but does not provide other team member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927080" y="-594360"/>
            <a:ext cx="1645920" cy="1645920"/>
          </a:xfrm>
          <a:prstGeom prst="ellipse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92840" y="502920"/>
            <a:ext cx="502920" cy="502920"/>
          </a:xfrm>
          <a:prstGeom prst="ellipse">
            <a:avLst/>
          </a:prstGeom>
          <a:solidFill>
            <a:srgbClr val="E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594360"/>
            <a:ext cx="2240280" cy="292608"/>
          </a:xfrm>
          <a:prstGeom prst="round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617220"/>
            <a:ext cx="224028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ATMIYA DEVELOPER STUDENTS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143000"/>
            <a:ext cx="65836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6B7D3"/>
                </a:solidFill>
                <a:latin typeface="Aptos"/>
              </a:rPr>
              <a:t>CODE CARNIVAL 3.0  /  IDEA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45920"/>
            <a:ext cx="6766560" cy="7772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92B52"/>
                </a:solidFill>
                <a:latin typeface="Aptos Display"/>
              </a:rPr>
              <a:t>EventEase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87168"/>
            <a:ext cx="6583680" cy="7498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2E3A52"/>
                </a:solidFill>
                <a:latin typeface="Aptos Display"/>
              </a:rPr>
              <a:t>College Event Registration
&amp; QR Check-In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3474720"/>
            <a:ext cx="5623560" cy="4114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822191"/>
            <a:ext cx="169164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48F"/>
                </a:solidFill>
                <a:latin typeface="Aptos"/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087368"/>
            <a:ext cx="16916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2B52"/>
                </a:solidFill>
                <a:latin typeface="Aptos"/>
              </a:rPr>
              <a:t>CodeSpark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3822191"/>
            <a:ext cx="10972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48F"/>
                </a:solidFill>
                <a:latin typeface="Aptos"/>
              </a:rPr>
              <a:t>TEAM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087368"/>
            <a:ext cx="10972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2B52"/>
                </a:solidFill>
                <a:latin typeface="Aptos"/>
              </a:rPr>
              <a:t>895F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822191"/>
            <a:ext cx="21945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6748F"/>
                </a:solidFill>
                <a:latin typeface="Aptos"/>
              </a:rPr>
              <a:t>TEAM LEADER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4087368"/>
            <a:ext cx="219456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2B52"/>
                </a:solidFill>
                <a:latin typeface="Aptos"/>
              </a:rPr>
              <a:t>Anant Nanda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828032"/>
            <a:ext cx="3520440" cy="292608"/>
          </a:xfrm>
          <a:prstGeom prst="roundRect">
            <a:avLst/>
          </a:prstGeom>
          <a:solidFill>
            <a:srgbClr val="7A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850892"/>
            <a:ext cx="352044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PS-03  ·  EVENT MANAGEMENT / DIGITAL SOLUTIONS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596128"/>
            <a:ext cx="630936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748F"/>
                </a:solidFill>
                <a:latin typeface="Aptos"/>
              </a:rPr>
              <a:t>A unified platform for registration, QR entry and live attendance.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868680"/>
            <a:ext cx="3429000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38160" y="1188720"/>
            <a:ext cx="1234440" cy="292608"/>
          </a:xfrm>
          <a:prstGeom prst="round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1211580"/>
            <a:ext cx="123444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EVENT PASS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1783080"/>
            <a:ext cx="145938" cy="14593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86215" y="1783080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759952" y="1783080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933688" y="1783080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07424" y="1783080"/>
            <a:ext cx="145938" cy="14593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54896" y="1783080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802367" y="1783080"/>
            <a:ext cx="145938" cy="14593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412480" y="1956816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07424" y="1956816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281159" y="1956816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28632" y="1956816"/>
            <a:ext cx="145938" cy="14593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412480" y="2130552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759952" y="2130552"/>
            <a:ext cx="145938" cy="14593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07424" y="2130552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454896" y="2130552"/>
            <a:ext cx="145938" cy="14593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628632" y="2130552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802367" y="2130552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412480" y="2304288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07424" y="2304288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281159" y="2304288"/>
            <a:ext cx="145938" cy="14593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454896" y="2304288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412480" y="2478024"/>
            <a:ext cx="145938" cy="14593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586215" y="2478024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759952" y="2478024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933688" y="2478024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107424" y="2478024"/>
            <a:ext cx="145938" cy="14593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454896" y="2478024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802367" y="2478024"/>
            <a:ext cx="145938" cy="14593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586215" y="2651760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933688" y="2651760"/>
            <a:ext cx="145938" cy="14593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281159" y="2651760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628632" y="2651760"/>
            <a:ext cx="145938" cy="14593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412480" y="2825496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586215" y="2825496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759952" y="2825496"/>
            <a:ext cx="145938" cy="14593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107424" y="2825496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281159" y="2825496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454896" y="2825496"/>
            <a:ext cx="145938" cy="14593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802367" y="2825496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759952" y="2999232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933688" y="2999232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281159" y="2999232"/>
            <a:ext cx="145938" cy="14593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628632" y="2999232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802367" y="2999232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412480" y="3172968"/>
            <a:ext cx="145938" cy="14593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759952" y="3172968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107424" y="3172968"/>
            <a:ext cx="145938" cy="14593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454896" y="3172968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628632" y="3172968"/>
            <a:ext cx="145938" cy="14593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9802367" y="3172968"/>
            <a:ext cx="145938" cy="14593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092440" y="3611880"/>
            <a:ext cx="26974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19D75"/>
                </a:solidFill>
                <a:latin typeface="Aptos"/>
              </a:rPr>
              <a:t>READY FOR CHECK-IN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2440" y="3986784"/>
            <a:ext cx="26974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6748F"/>
                </a:solidFill>
                <a:latin typeface="Aptos"/>
              </a:rPr>
              <a:t>REGISTRATION ID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92440" y="4242816"/>
            <a:ext cx="2697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92B52"/>
                </a:solidFill>
                <a:latin typeface="Aptos"/>
              </a:rPr>
              <a:t>Unique QR Pass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49640" y="4828032"/>
            <a:ext cx="1783080" cy="41148"/>
          </a:xfrm>
          <a:prstGeom prst="rect">
            <a:avLst/>
          </a:prstGeom>
          <a:solidFill>
            <a:srgbClr val="7A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092440" y="5166360"/>
            <a:ext cx="26974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6748F"/>
                </a:solidFill>
                <a:latin typeface="Aptos"/>
              </a:rPr>
              <a:t>REGISTER  •  SCAN  •  ATTEND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927080" y="-594360"/>
            <a:ext cx="1645920" cy="1645920"/>
          </a:xfrm>
          <a:prstGeom prst="ellipse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92840" y="502920"/>
            <a:ext cx="502920" cy="502920"/>
          </a:xfrm>
          <a:prstGeom prst="ellipse">
            <a:avLst/>
          </a:prstGeom>
          <a:solidFill>
            <a:srgbClr val="E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969264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15BDB"/>
                </a:solidFill>
                <a:latin typeface="Aptos"/>
              </a:rPr>
              <a:t>01 · THE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515600" cy="53035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92B52"/>
                </a:solidFill>
                <a:latin typeface="Aptos Display"/>
              </a:rPr>
              <a:t>Why event entry needs a better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658368" cy="4114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53312" y="1298448"/>
            <a:ext cx="256032" cy="41148"/>
          </a:xfrm>
          <a:prstGeom prst="rect">
            <a:avLst/>
          </a:prstGeom>
          <a:solidFill>
            <a:srgbClr val="7A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0" y="338328"/>
            <a:ext cx="5486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748F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507492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32688" y="1901952"/>
            <a:ext cx="1508760" cy="292608"/>
          </a:xfrm>
          <a:prstGeom prst="roundRect">
            <a:avLst/>
          </a:prstGeom>
          <a:solidFill>
            <a:srgbClr val="FF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924812"/>
            <a:ext cx="150876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A67E6"/>
                </a:solidFill>
                <a:latin typeface="Aptos"/>
              </a:rPr>
              <a:t>CURRENT REALITY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855" y="2258568"/>
            <a:ext cx="4939144" cy="3785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dirty="0">
                <a:solidFill>
                  <a:srgbClr val="192B52"/>
                </a:solidFill>
                <a:latin typeface="Aptos Display"/>
              </a:rPr>
              <a:t>Manual</a:t>
            </a:r>
            <a:r>
              <a:rPr sz="2100" b="1" dirty="0">
                <a:solidFill>
                  <a:srgbClr val="192B52"/>
                </a:solidFill>
                <a:latin typeface="Aptos Display"/>
              </a:rPr>
              <a:t> </a:t>
            </a:r>
            <a:r>
              <a:rPr b="1" dirty="0">
                <a:solidFill>
                  <a:srgbClr val="192B52"/>
                </a:solidFill>
                <a:latin typeface="Aptos Display"/>
              </a:rPr>
              <a:t>processes create </a:t>
            </a:r>
            <a:r>
              <a:rPr b="1" dirty="0" smtClean="0">
                <a:solidFill>
                  <a:srgbClr val="192B52"/>
                </a:solidFill>
                <a:latin typeface="Aptos Display"/>
              </a:rPr>
              <a:t>avoidable friction</a:t>
            </a:r>
            <a:r>
              <a:rPr b="1" dirty="0">
                <a:solidFill>
                  <a:srgbClr val="192B52"/>
                </a:solidFill>
                <a:latin typeface="Aptos Display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969264" y="3154680"/>
            <a:ext cx="91440" cy="91440"/>
          </a:xfrm>
          <a:prstGeom prst="ellipse">
            <a:avLst/>
          </a:prstGeom>
          <a:solidFill>
            <a:srgbClr val="7A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52144" y="3063240"/>
            <a:ext cx="420624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E3A52"/>
                </a:solidFill>
                <a:latin typeface="Aptos"/>
              </a:rPr>
              <a:t>Paper lists, forms and spreadsheets</a:t>
            </a:r>
          </a:p>
        </p:txBody>
      </p:sp>
      <p:sp>
        <p:nvSpPr>
          <p:cNvPr id="15" name="Oval 14"/>
          <p:cNvSpPr/>
          <p:nvPr/>
        </p:nvSpPr>
        <p:spPr>
          <a:xfrm>
            <a:off x="969264" y="3657600"/>
            <a:ext cx="91440" cy="91440"/>
          </a:xfrm>
          <a:prstGeom prst="ellipse">
            <a:avLst/>
          </a:prstGeom>
          <a:solidFill>
            <a:srgbClr val="7A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52144" y="3566160"/>
            <a:ext cx="420624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E3A52"/>
                </a:solidFill>
                <a:latin typeface="Aptos"/>
              </a:rPr>
              <a:t>Long queues at event entry</a:t>
            </a:r>
          </a:p>
        </p:txBody>
      </p:sp>
      <p:sp>
        <p:nvSpPr>
          <p:cNvPr id="17" name="Oval 16"/>
          <p:cNvSpPr/>
          <p:nvPr/>
        </p:nvSpPr>
        <p:spPr>
          <a:xfrm>
            <a:off x="969264" y="4160520"/>
            <a:ext cx="91440" cy="91440"/>
          </a:xfrm>
          <a:prstGeom prst="ellipse">
            <a:avLst/>
          </a:prstGeom>
          <a:solidFill>
            <a:srgbClr val="7A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52144" y="4069080"/>
            <a:ext cx="420624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E3A52"/>
                </a:solidFill>
                <a:latin typeface="Aptos"/>
              </a:rPr>
              <a:t>Incorrect attendance counts</a:t>
            </a:r>
          </a:p>
        </p:txBody>
      </p:sp>
      <p:sp>
        <p:nvSpPr>
          <p:cNvPr id="19" name="Oval 18"/>
          <p:cNvSpPr/>
          <p:nvPr/>
        </p:nvSpPr>
        <p:spPr>
          <a:xfrm>
            <a:off x="969264" y="4663440"/>
            <a:ext cx="91440" cy="91440"/>
          </a:xfrm>
          <a:prstGeom prst="ellipse">
            <a:avLst/>
          </a:prstGeom>
          <a:solidFill>
            <a:srgbClr val="7A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52144" y="4572000"/>
            <a:ext cx="420624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E3A52"/>
                </a:solidFill>
                <a:latin typeface="Aptos"/>
              </a:rPr>
              <a:t>Duplicate or fake entries</a:t>
            </a:r>
          </a:p>
        </p:txBody>
      </p:sp>
      <p:sp>
        <p:nvSpPr>
          <p:cNvPr id="21" name="Oval 20"/>
          <p:cNvSpPr/>
          <p:nvPr/>
        </p:nvSpPr>
        <p:spPr>
          <a:xfrm>
            <a:off x="969264" y="5166360"/>
            <a:ext cx="91440" cy="91440"/>
          </a:xfrm>
          <a:prstGeom prst="ellipse">
            <a:avLst/>
          </a:prstGeom>
          <a:solidFill>
            <a:srgbClr val="7A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52144" y="5074920"/>
            <a:ext cx="420624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E3A52"/>
                </a:solidFill>
                <a:latin typeface="Aptos"/>
              </a:rPr>
              <a:t>No unified view of capacity and attendance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25895" y="1545336"/>
            <a:ext cx="5440680" cy="4434840"/>
          </a:xfrm>
          <a:prstGeom prst="roundRect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82512" y="1901952"/>
            <a:ext cx="1508760" cy="292608"/>
          </a:xfrm>
          <a:prstGeom prst="round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82512" y="1924812"/>
            <a:ext cx="150876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WHO IS AFFECTED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82512" y="2542032"/>
            <a:ext cx="1481328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2724912"/>
            <a:ext cx="1298448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15BDB"/>
                </a:solidFill>
                <a:latin typeface="Aptos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3127248"/>
            <a:ext cx="1335024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92B52"/>
                </a:solidFill>
                <a:latin typeface="Aptos"/>
              </a:rPr>
              <a:t>Students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493008"/>
            <a:ext cx="1261872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6748F"/>
                </a:solidFill>
                <a:latin typeface="Aptos"/>
              </a:rPr>
              <a:t>Clearer, faster entry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431" y="2542032"/>
            <a:ext cx="1481328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19871" y="2724912"/>
            <a:ext cx="1298448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15BDB"/>
                </a:solidFill>
                <a:latin typeface="Aptos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1583" y="3127248"/>
            <a:ext cx="1335024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92B52"/>
                </a:solidFill>
                <a:latin typeface="Aptos"/>
              </a:rPr>
              <a:t>Organisers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9" y="3493008"/>
            <a:ext cx="1261872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6748F"/>
                </a:solidFill>
                <a:latin typeface="Aptos"/>
              </a:rPr>
              <a:t>Less manual work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74352" y="2542032"/>
            <a:ext cx="1481328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65792" y="2724912"/>
            <a:ext cx="1298448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15BDB"/>
                </a:solidFill>
                <a:latin typeface="Aptos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47504" y="3127248"/>
            <a:ext cx="1335024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92B52"/>
                </a:solidFill>
                <a:latin typeface="Aptos"/>
              </a:rPr>
              <a:t>Administrators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493008"/>
            <a:ext cx="1261872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6748F"/>
                </a:solidFill>
                <a:latin typeface="Aptos"/>
              </a:rPr>
              <a:t>Reliable attendance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25895" y="4800600"/>
            <a:ext cx="5266945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smtClean="0">
                <a:solidFill>
                  <a:srgbClr val="192B52"/>
                </a:solidFill>
                <a:latin typeface="Aptos"/>
              </a:rPr>
              <a:t>Root cause: </a:t>
            </a:r>
            <a:r>
              <a:rPr sz="1300" b="1" dirty="0">
                <a:solidFill>
                  <a:srgbClr val="192B52"/>
                </a:solidFill>
                <a:latin typeface="Aptos"/>
              </a:rPr>
              <a:t>registration and on-site check-in run in separate, unlinked tools.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510528"/>
            <a:ext cx="713232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6748F"/>
                </a:solidFill>
                <a:latin typeface="Aptos"/>
              </a:rPr>
              <a:t>CODE CARNIVAL 3.0  ·  ADSC, ATMIYA UNIVERSITY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6492240"/>
            <a:ext cx="18288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6748F"/>
                </a:solidFill>
                <a:latin typeface="Aptos"/>
              </a:rPr>
              <a:t>CodeSpark  •  895F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927080" y="-594360"/>
            <a:ext cx="1645920" cy="1645920"/>
          </a:xfrm>
          <a:prstGeom prst="ellipse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92840" y="502920"/>
            <a:ext cx="502920" cy="502920"/>
          </a:xfrm>
          <a:prstGeom prst="ellipse">
            <a:avLst/>
          </a:prstGeom>
          <a:solidFill>
            <a:srgbClr val="E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969264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15BDB"/>
                </a:solidFill>
                <a:latin typeface="Aptos"/>
              </a:rPr>
              <a:t>02 · 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515600" cy="53035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92B52"/>
                </a:solidFill>
                <a:latin typeface="Aptos Display"/>
              </a:rPr>
              <a:t>One platform. Three connected roles.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658368" cy="4114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53312" y="1298448"/>
            <a:ext cx="256032" cy="41148"/>
          </a:xfrm>
          <a:prstGeom prst="rect">
            <a:avLst/>
          </a:prstGeom>
          <a:solidFill>
            <a:srgbClr val="7A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0" y="338328"/>
            <a:ext cx="5486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748F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72768"/>
            <a:ext cx="10515600" cy="53035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E3A52"/>
                </a:solidFill>
                <a:latin typeface="Aptos"/>
              </a:rPr>
              <a:t>EventEase connects online registration, QR validation and live attendance.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274320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1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5840" y="2587752"/>
            <a:ext cx="502920" cy="64008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852928"/>
            <a:ext cx="2286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15BDB"/>
                </a:solidFill>
                <a:latin typeface="Aptos"/>
              </a:rPr>
              <a:t>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46120"/>
            <a:ext cx="2286000" cy="3474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2B52"/>
                </a:solidFill>
                <a:latin typeface="Aptos Display"/>
              </a:rPr>
              <a:t>Registers online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12463"/>
            <a:ext cx="2286000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48F"/>
                </a:solidFill>
                <a:latin typeface="Aptos"/>
              </a:rPr>
              <a:t>Receives a unique ID,
entry code and QR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2331720"/>
            <a:ext cx="274320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B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44568" y="2587752"/>
            <a:ext cx="502920" cy="6400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44568" y="2852928"/>
            <a:ext cx="2286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6B7D3"/>
                </a:solidFill>
                <a:latin typeface="Aptos"/>
              </a:rPr>
              <a:t>EVENTEASE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246120"/>
            <a:ext cx="2286000" cy="3474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2B52"/>
                </a:solidFill>
                <a:latin typeface="Aptos Display"/>
              </a:rPr>
              <a:t>Validates securely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712463"/>
            <a:ext cx="2286000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48F"/>
                </a:solidFill>
                <a:latin typeface="Aptos"/>
              </a:rPr>
              <a:t>Checks registration,
capacity and check-in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54696" y="2331720"/>
            <a:ext cx="274320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A6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83296" y="2587752"/>
            <a:ext cx="502920" cy="64008"/>
          </a:xfrm>
          <a:prstGeom prst="rect">
            <a:avLst/>
          </a:prstGeom>
          <a:solidFill>
            <a:srgbClr val="7A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83296" y="2852928"/>
            <a:ext cx="2286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A67E6"/>
                </a:solidFill>
                <a:latin typeface="Aptos"/>
              </a:rPr>
              <a:t>ORGANISER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246120"/>
            <a:ext cx="2286000" cy="3474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92B52"/>
                </a:solidFill>
                <a:latin typeface="Aptos Display"/>
              </a:rPr>
              <a:t>Scans at entry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712463"/>
            <a:ext cx="2286000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48F"/>
                </a:solidFill>
                <a:latin typeface="Aptos"/>
              </a:rPr>
              <a:t>Records attendance once;
views live dashboard</a:t>
            </a:r>
          </a:p>
        </p:txBody>
      </p:sp>
      <p:sp>
        <p:nvSpPr>
          <p:cNvPr id="25" name="Chevron 24"/>
          <p:cNvSpPr/>
          <p:nvPr/>
        </p:nvSpPr>
        <p:spPr>
          <a:xfrm>
            <a:off x="3657600" y="3154680"/>
            <a:ext cx="384048" cy="502920"/>
          </a:xfrm>
          <a:prstGeom prst="chevron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hevron 25"/>
          <p:cNvSpPr/>
          <p:nvPr/>
        </p:nvSpPr>
        <p:spPr>
          <a:xfrm>
            <a:off x="7196328" y="3154680"/>
            <a:ext cx="384048" cy="502920"/>
          </a:xfrm>
          <a:prstGeom prst="chevron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4400" y="5074920"/>
            <a:ext cx="10287000" cy="658368"/>
          </a:xfrm>
          <a:prstGeom prst="roundRect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3000" y="5257800"/>
            <a:ext cx="982980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92B52"/>
                </a:solidFill>
                <a:latin typeface="Aptos"/>
              </a:rPr>
              <a:t>BUILT-IN SAFEGUARDS   •   Seat limits   •   Unique check-in record   •   Duplicate scans rejected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0528"/>
            <a:ext cx="713232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6748F"/>
                </a:solidFill>
                <a:latin typeface="Aptos"/>
              </a:rPr>
              <a:t>CODE CARNIVAL 3.0  ·  ADSC, ATMIYA UNIVERSITY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6492240"/>
            <a:ext cx="18288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6748F"/>
                </a:solidFill>
                <a:latin typeface="Aptos"/>
              </a:rPr>
              <a:t>CodeSpark  •  895F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927080" y="-594360"/>
            <a:ext cx="1645920" cy="1645920"/>
          </a:xfrm>
          <a:prstGeom prst="ellipse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92840" y="502920"/>
            <a:ext cx="502920" cy="502920"/>
          </a:xfrm>
          <a:prstGeom prst="ellipse">
            <a:avLst/>
          </a:prstGeom>
          <a:solidFill>
            <a:srgbClr val="E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969264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15BDB"/>
                </a:solidFill>
                <a:latin typeface="Aptos"/>
              </a:rPr>
              <a:t>03 · THE ARSENAL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515600" cy="53035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92B52"/>
                </a:solidFill>
                <a:latin typeface="Aptos Display"/>
              </a:rPr>
              <a:t>Four core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658368" cy="4114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53312" y="1298448"/>
            <a:ext cx="256032" cy="41148"/>
          </a:xfrm>
          <a:prstGeom prst="rect">
            <a:avLst/>
          </a:prstGeom>
          <a:solidFill>
            <a:srgbClr val="7A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0" y="338328"/>
            <a:ext cx="5486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748F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19072"/>
            <a:ext cx="516636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60120" y="2011679"/>
            <a:ext cx="566928" cy="566928"/>
          </a:xfrm>
          <a:prstGeom prst="roundRect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157984"/>
            <a:ext cx="566928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15BDB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965960"/>
            <a:ext cx="3840480" cy="3474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2B52"/>
                </a:solidFill>
                <a:latin typeface="Aptos Display"/>
              </a:rPr>
              <a:t>Event creation &amp;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432304"/>
            <a:ext cx="3794760" cy="6583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48F"/>
                </a:solidFill>
                <a:latin typeface="Aptos"/>
              </a:rPr>
              <a:t>Set event date, venue, capacity and registration window.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19072"/>
            <a:ext cx="516636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46520" y="2011679"/>
            <a:ext cx="566928" cy="566928"/>
          </a:xfrm>
          <a:prstGeom prst="roundRect">
            <a:avLst/>
          </a:prstGeom>
          <a:solidFill>
            <a:srgbClr val="E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157984"/>
            <a:ext cx="566928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6B7D3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965960"/>
            <a:ext cx="3840480" cy="3474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2B52"/>
                </a:solidFill>
                <a:latin typeface="Aptos Display"/>
              </a:rPr>
              <a:t>Registration + QR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432304"/>
            <a:ext cx="3794760" cy="6583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48F"/>
                </a:solidFill>
                <a:latin typeface="Aptos"/>
              </a:rPr>
              <a:t>Validate submissions and issue a unique ID, entry code and downloadable pass.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22191"/>
            <a:ext cx="516636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0120" y="4114800"/>
            <a:ext cx="566928" cy="566928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261104"/>
            <a:ext cx="566928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7A67E6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069079"/>
            <a:ext cx="3840480" cy="3474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2B52"/>
                </a:solidFill>
                <a:latin typeface="Aptos Display"/>
              </a:rPr>
              <a:t>QR / manual check-in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535424"/>
            <a:ext cx="3794760" cy="6583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48F"/>
                </a:solidFill>
                <a:latin typeface="Aptos"/>
              </a:rPr>
              <a:t>Scan a QR code or enter the code for server-side verification.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822191"/>
            <a:ext cx="516636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46520" y="4114800"/>
            <a:ext cx="566928" cy="566928"/>
          </a:xfrm>
          <a:prstGeom prst="roundRect">
            <a:avLst/>
          </a:prstGeom>
          <a:solidFill>
            <a:srgbClr val="E9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261104"/>
            <a:ext cx="566928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19D75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069079"/>
            <a:ext cx="3840480" cy="3474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2B52"/>
                </a:solidFill>
                <a:latin typeface="Aptos Display"/>
              </a:rPr>
              <a:t>Duplicate block +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535424"/>
            <a:ext cx="3794760" cy="6583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48F"/>
                </a:solidFill>
                <a:latin typeface="Aptos"/>
              </a:rPr>
              <a:t>Reject repeat check-ins and track registrations, attendance and percentage.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0528"/>
            <a:ext cx="713232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6748F"/>
                </a:solidFill>
                <a:latin typeface="Aptos"/>
              </a:rPr>
              <a:t>CODE CARNIVAL 3.0  ·  ADSC, ATMIYA UNIVERSITY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6492240"/>
            <a:ext cx="18288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6748F"/>
                </a:solidFill>
                <a:latin typeface="Aptos"/>
              </a:rPr>
              <a:t>CodeSpark  •  895F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927080" y="-594360"/>
            <a:ext cx="1645920" cy="1645920"/>
          </a:xfrm>
          <a:prstGeom prst="ellipse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92840" y="502920"/>
            <a:ext cx="502920" cy="502920"/>
          </a:xfrm>
          <a:prstGeom prst="ellipse">
            <a:avLst/>
          </a:prstGeom>
          <a:solidFill>
            <a:srgbClr val="E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969264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15BDB"/>
                </a:solidFill>
                <a:latin typeface="Aptos"/>
              </a:rPr>
              <a:t>04 · THE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515600" cy="53035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92B52"/>
                </a:solidFill>
                <a:latin typeface="Aptos Display"/>
              </a:rPr>
              <a:t>From registration to verified entry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658368" cy="4114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53312" y="1298448"/>
            <a:ext cx="256032" cy="41148"/>
          </a:xfrm>
          <a:prstGeom prst="rect">
            <a:avLst/>
          </a:prstGeom>
          <a:solidFill>
            <a:srgbClr val="7A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0" y="338328"/>
            <a:ext cx="5486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748F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84831"/>
            <a:ext cx="2542032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32688" y="2331720"/>
            <a:ext cx="566928" cy="566928"/>
          </a:xfrm>
          <a:prstGeom prst="roundRect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566928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315BDB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063240"/>
            <a:ext cx="21031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2B52"/>
                </a:solidFill>
                <a:latin typeface="Aptos Display"/>
              </a:rPr>
              <a:t>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2"/>
            <a:ext cx="2121408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48F"/>
                </a:solidFill>
                <a:latin typeface="Aptos"/>
              </a:rPr>
              <a:t>Participant submits form</a:t>
            </a:r>
          </a:p>
        </p:txBody>
      </p:sp>
      <p:sp>
        <p:nvSpPr>
          <p:cNvPr id="14" name="Chevron 13"/>
          <p:cNvSpPr/>
          <p:nvPr/>
        </p:nvSpPr>
        <p:spPr>
          <a:xfrm>
            <a:off x="3328415" y="2834640"/>
            <a:ext cx="182880" cy="384048"/>
          </a:xfrm>
          <a:prstGeom prst="chevron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47872" y="2084831"/>
            <a:ext cx="2542032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749039" y="2331720"/>
            <a:ext cx="566928" cy="566928"/>
          </a:xfrm>
          <a:prstGeom prst="roundRect">
            <a:avLst/>
          </a:prstGeom>
          <a:solidFill>
            <a:srgbClr val="E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49039" y="2487168"/>
            <a:ext cx="566928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6B7D3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063240"/>
            <a:ext cx="21031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2B52"/>
                </a:solidFill>
                <a:latin typeface="Aptos Display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502152"/>
            <a:ext cx="2121408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48F"/>
                </a:solidFill>
                <a:latin typeface="Aptos"/>
              </a:rPr>
              <a:t>Check fields and capacity</a:t>
            </a:r>
          </a:p>
        </p:txBody>
      </p:sp>
      <p:sp>
        <p:nvSpPr>
          <p:cNvPr id="20" name="Chevron 19"/>
          <p:cNvSpPr/>
          <p:nvPr/>
        </p:nvSpPr>
        <p:spPr>
          <a:xfrm>
            <a:off x="6144768" y="2834640"/>
            <a:ext cx="182880" cy="384048"/>
          </a:xfrm>
          <a:prstGeom prst="chevron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64224" y="2084831"/>
            <a:ext cx="2542032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65392" y="2331720"/>
            <a:ext cx="566928" cy="566928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2487168"/>
            <a:ext cx="566928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A67E6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063240"/>
            <a:ext cx="21031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2B52"/>
                </a:solidFill>
                <a:latin typeface="Aptos Display"/>
              </a:rPr>
              <a:t>ISSUE 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502152"/>
            <a:ext cx="2121408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48F"/>
                </a:solidFill>
                <a:latin typeface="Aptos"/>
              </a:rPr>
              <a:t>Save record and create QR</a:t>
            </a:r>
          </a:p>
        </p:txBody>
      </p:sp>
      <p:sp>
        <p:nvSpPr>
          <p:cNvPr id="26" name="Chevron 25"/>
          <p:cNvSpPr/>
          <p:nvPr/>
        </p:nvSpPr>
        <p:spPr>
          <a:xfrm>
            <a:off x="8961120" y="2834640"/>
            <a:ext cx="182880" cy="384048"/>
          </a:xfrm>
          <a:prstGeom prst="chevron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80576" y="2084831"/>
            <a:ext cx="2542032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381744" y="2331720"/>
            <a:ext cx="566928" cy="566928"/>
          </a:xfrm>
          <a:prstGeom prst="roundRect">
            <a:avLst/>
          </a:prstGeom>
          <a:solidFill>
            <a:srgbClr val="E9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81744" y="2487168"/>
            <a:ext cx="566928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19D75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1744" y="3063240"/>
            <a:ext cx="21031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2B52"/>
                </a:solidFill>
                <a:latin typeface="Aptos Display"/>
              </a:rPr>
              <a:t>CHECK 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1744" y="3502152"/>
            <a:ext cx="2121408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48F"/>
                </a:solidFill>
                <a:latin typeface="Aptos"/>
              </a:rPr>
              <a:t>Scan code; record once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" y="4617720"/>
            <a:ext cx="10241280" cy="868680"/>
          </a:xfrm>
          <a:prstGeom prst="roundRect">
            <a:avLst/>
          </a:prstGeom>
          <a:solidFill>
            <a:srgbClr val="FF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34440" y="4828032"/>
            <a:ext cx="18288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A67E6"/>
                </a:solidFill>
                <a:latin typeface="Aptos"/>
              </a:rPr>
              <a:t>SECOND SCAN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4773168"/>
            <a:ext cx="777240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2B52"/>
                </a:solidFill>
                <a:latin typeface="Aptos"/>
              </a:rPr>
              <a:t>Rejected as a duplicate  →  attendance dashboard updates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742432"/>
            <a:ext cx="1014984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48F"/>
                </a:solidFill>
                <a:latin typeface="Aptos"/>
              </a:rPr>
              <a:t>Capacity is checked before registration is accepted; a check-in can be recorded only once.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510528"/>
            <a:ext cx="713232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6748F"/>
                </a:solidFill>
                <a:latin typeface="Aptos"/>
              </a:rPr>
              <a:t>CODE CARNIVAL 3.0  ·  ADSC, ATMIYA UNIVERSITY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6492240"/>
            <a:ext cx="18288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6748F"/>
                </a:solidFill>
                <a:latin typeface="Aptos"/>
              </a:rPr>
              <a:t>CodeSpark  •  895F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927080" y="-594360"/>
            <a:ext cx="1645920" cy="1645920"/>
          </a:xfrm>
          <a:prstGeom prst="ellipse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92840" y="502920"/>
            <a:ext cx="502920" cy="502920"/>
          </a:xfrm>
          <a:prstGeom prst="ellipse">
            <a:avLst/>
          </a:prstGeom>
          <a:solidFill>
            <a:srgbClr val="E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969264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15BDB"/>
                </a:solidFill>
                <a:latin typeface="Aptos"/>
              </a:rPr>
              <a:t>05 · THE GEAR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515600" cy="53035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92B52"/>
                </a:solidFill>
                <a:latin typeface="Aptos Display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658368" cy="4114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53312" y="1298448"/>
            <a:ext cx="256032" cy="41148"/>
          </a:xfrm>
          <a:prstGeom prst="rect">
            <a:avLst/>
          </a:prstGeom>
          <a:solidFill>
            <a:srgbClr val="7A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0" y="338328"/>
            <a:ext cx="5486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748F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27632"/>
            <a:ext cx="10835640" cy="502920"/>
          </a:xfrm>
          <a:prstGeom prst="round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92224"/>
            <a:ext cx="16002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792224"/>
            <a:ext cx="36576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792224"/>
            <a:ext cx="438912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PURPOSE IN EVENTEASE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221992"/>
            <a:ext cx="10835640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" y="2340864"/>
            <a:ext cx="64008" cy="274320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331720"/>
            <a:ext cx="1600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B52"/>
                </a:solidFill>
                <a:latin typeface="Aptos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286000"/>
            <a:ext cx="3611880" cy="40233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2E3A52"/>
                </a:solidFill>
                <a:latin typeface="Aptos"/>
              </a:rPr>
              <a:t>HTML5 · CSS3 · JavaScript
Bootstrap 5 · Chart.js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340864"/>
            <a:ext cx="43891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48F"/>
                </a:solidFill>
                <a:latin typeface="Aptos"/>
              </a:rPr>
              <a:t>Responsive interface and attendance charts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807208"/>
            <a:ext cx="10835640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" y="2926080"/>
            <a:ext cx="64008" cy="274320"/>
          </a:xfrm>
          <a:prstGeom prst="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2916936"/>
            <a:ext cx="1600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B52"/>
                </a:solidFill>
                <a:latin typeface="Aptos"/>
              </a:rP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871216"/>
            <a:ext cx="3611880" cy="40233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2E3A52"/>
                </a:solidFill>
                <a:latin typeface="Aptos"/>
              </a:rPr>
              <a:t>PHP 8 · PDO · Sessions
CSRF tokens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926080"/>
            <a:ext cx="43891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48F"/>
                </a:solidFill>
                <a:latin typeface="Aptos"/>
              </a:rPr>
              <a:t>Server logic and session-aware security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392424"/>
            <a:ext cx="10835640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4672" y="3511296"/>
            <a:ext cx="64008" cy="274320"/>
          </a:xfrm>
          <a:prstGeom prst="rect">
            <a:avLst/>
          </a:prstGeom>
          <a:solidFill>
            <a:srgbClr val="7A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3502152"/>
            <a:ext cx="1600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B52"/>
                </a:solidFill>
                <a:latin typeface="Aptos"/>
              </a:rP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456432"/>
            <a:ext cx="3611880" cy="40233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2E3A52"/>
                </a:solidFill>
                <a:latin typeface="Aptos"/>
              </a:rPr>
              <a:t>MySQL
Foreign keys · UNIQUE keys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511296"/>
            <a:ext cx="43891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48F"/>
                </a:solidFill>
                <a:latin typeface="Aptos"/>
              </a:rPr>
              <a:t>Related records and duplicate check-in prevention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977639"/>
            <a:ext cx="10835640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2" y="4096511"/>
            <a:ext cx="64008" cy="274320"/>
          </a:xfrm>
          <a:prstGeom prst="rect">
            <a:avLst/>
          </a:prstGeom>
          <a:solidFill>
            <a:srgbClr val="219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4087368"/>
            <a:ext cx="1600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B52"/>
                </a:solidFill>
                <a:latin typeface="Aptos"/>
              </a:rPr>
              <a:t>QR / Scanner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041648"/>
            <a:ext cx="3611880" cy="40233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2E3A52"/>
                </a:solidFill>
                <a:latin typeface="Aptos"/>
              </a:rPr>
              <a:t>qrcode.js
html5-qrcode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96511"/>
            <a:ext cx="43891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48F"/>
                </a:solidFill>
                <a:latin typeface="Aptos"/>
              </a:rPr>
              <a:t>Generate passes and scan with a phone camera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562856"/>
            <a:ext cx="10835640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4672" y="4681728"/>
            <a:ext cx="64008" cy="274320"/>
          </a:xfrm>
          <a:prstGeom prst="rect">
            <a:avLst/>
          </a:prstGeom>
          <a:solidFill>
            <a:srgbClr val="B77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4672584"/>
            <a:ext cx="1600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B52"/>
                </a:solidFill>
                <a:latin typeface="Aptos"/>
              </a:rPr>
              <a:t>Hosting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626864"/>
            <a:ext cx="3611880" cy="40233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2E3A52"/>
                </a:solidFill>
                <a:latin typeface="Aptos"/>
              </a:rPr>
              <a:t>XAMPP (Apache)
PHP-compatible hosting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681728"/>
            <a:ext cx="43891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48F"/>
                </a:solidFill>
                <a:latin typeface="Aptos"/>
              </a:rPr>
              <a:t>Local demo or deployment on a PHP host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148072"/>
            <a:ext cx="10835640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4672" y="5266944"/>
            <a:ext cx="64008" cy="274320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0120" y="5257800"/>
            <a:ext cx="1600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B52"/>
                </a:solidFill>
                <a:latin typeface="Aptos"/>
              </a:rPr>
              <a:t>Tools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5212080"/>
            <a:ext cx="3611880" cy="40233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2E3A52"/>
                </a:solidFill>
                <a:latin typeface="Aptos"/>
              </a:rPr>
              <a:t>Git · GitHub · VS Code
phpMyAdmin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266944"/>
            <a:ext cx="43891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48F"/>
                </a:solidFill>
                <a:latin typeface="Aptos"/>
              </a:rPr>
              <a:t>Version control, coding and database management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510528"/>
            <a:ext cx="713232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6748F"/>
                </a:solidFill>
                <a:latin typeface="Aptos"/>
              </a:rPr>
              <a:t>CODE CARNIVAL 3.0  ·  ADSC, ATMIYA UNIVERSITY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6492240"/>
            <a:ext cx="18288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6748F"/>
                </a:solidFill>
                <a:latin typeface="Aptos"/>
              </a:rPr>
              <a:t>CodeSpark  •  895F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927080" y="-594360"/>
            <a:ext cx="1645920" cy="1645920"/>
          </a:xfrm>
          <a:prstGeom prst="ellipse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92840" y="502920"/>
            <a:ext cx="502920" cy="502920"/>
          </a:xfrm>
          <a:prstGeom prst="ellipse">
            <a:avLst/>
          </a:prstGeom>
          <a:solidFill>
            <a:srgbClr val="E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969264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15BDB"/>
                </a:solidFill>
                <a:latin typeface="Aptos"/>
              </a:rPr>
              <a:t>06 · INSIDE THE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515600" cy="53035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92B52"/>
                </a:solidFill>
                <a:latin typeface="Aptos Display"/>
              </a:rPr>
              <a:t>Current progress &amp; next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658368" cy="4114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53312" y="1298448"/>
            <a:ext cx="256032" cy="41148"/>
          </a:xfrm>
          <a:prstGeom prst="rect">
            <a:avLst/>
          </a:prstGeom>
          <a:solidFill>
            <a:srgbClr val="7A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0" y="338328"/>
            <a:ext cx="5486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748F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64208"/>
            <a:ext cx="516636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19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7552" y="1938528"/>
            <a:ext cx="1298448" cy="292608"/>
          </a:xfrm>
          <a:prstGeom prst="roundRect">
            <a:avLst/>
          </a:prstGeom>
          <a:solidFill>
            <a:srgbClr val="E9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1961388"/>
            <a:ext cx="1298448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19D75"/>
                </a:solidFill>
                <a:latin typeface="Aptos"/>
              </a:rPr>
              <a:t>COMPLETED</a:t>
            </a:r>
          </a:p>
        </p:txBody>
      </p:sp>
      <p:sp>
        <p:nvSpPr>
          <p:cNvPr id="12" name="Oval 11"/>
          <p:cNvSpPr/>
          <p:nvPr/>
        </p:nvSpPr>
        <p:spPr>
          <a:xfrm>
            <a:off x="1024128" y="2606040"/>
            <a:ext cx="91440" cy="91440"/>
          </a:xfrm>
          <a:prstGeom prst="ellipse">
            <a:avLst/>
          </a:prstGeom>
          <a:solidFill>
            <a:srgbClr val="219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07008" y="2514600"/>
            <a:ext cx="4343400" cy="4572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3A52"/>
                </a:solidFill>
                <a:latin typeface="Aptos"/>
              </a:rPr>
              <a:t>Problem analysis, workflow and database design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3182112"/>
            <a:ext cx="91440" cy="91440"/>
          </a:xfrm>
          <a:prstGeom prst="ellipse">
            <a:avLst/>
          </a:prstGeom>
          <a:solidFill>
            <a:srgbClr val="219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07008" y="3090672"/>
            <a:ext cx="4343400" cy="4572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3A52"/>
                </a:solidFill>
                <a:latin typeface="Aptos"/>
              </a:rPr>
              <a:t>Admin login and event management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" y="3758183"/>
            <a:ext cx="91440" cy="91440"/>
          </a:xfrm>
          <a:prstGeom prst="ellipse">
            <a:avLst/>
          </a:prstGeom>
          <a:solidFill>
            <a:srgbClr val="219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07008" y="3666744"/>
            <a:ext cx="4343400" cy="4572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3A52"/>
                </a:solidFill>
                <a:latin typeface="Aptos"/>
              </a:rPr>
              <a:t>Registration ID, entry code and QR pass</a:t>
            </a:r>
          </a:p>
        </p:txBody>
      </p:sp>
      <p:sp>
        <p:nvSpPr>
          <p:cNvPr id="18" name="Oval 17"/>
          <p:cNvSpPr/>
          <p:nvPr/>
        </p:nvSpPr>
        <p:spPr>
          <a:xfrm>
            <a:off x="1024128" y="4334256"/>
            <a:ext cx="91440" cy="91440"/>
          </a:xfrm>
          <a:prstGeom prst="ellipse">
            <a:avLst/>
          </a:prstGeom>
          <a:solidFill>
            <a:srgbClr val="219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07008" y="4242816"/>
            <a:ext cx="4343400" cy="4572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3A52"/>
                </a:solidFill>
                <a:latin typeface="Aptos"/>
              </a:rPr>
              <a:t>QR / manual check-in with duplicate rejection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4910327"/>
            <a:ext cx="91440" cy="91440"/>
          </a:xfrm>
          <a:prstGeom prst="ellipse">
            <a:avLst/>
          </a:prstGeom>
          <a:solidFill>
            <a:srgbClr val="219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07008" y="4818888"/>
            <a:ext cx="4343400" cy="4572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3A52"/>
                </a:solidFill>
                <a:latin typeface="Aptos"/>
              </a:rPr>
              <a:t>Dashboard, participant search and CSV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664208"/>
            <a:ext cx="516636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77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92240" y="1938528"/>
            <a:ext cx="1234440" cy="292608"/>
          </a:xfrm>
          <a:prstGeom prst="round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1961388"/>
            <a:ext cx="123444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77E1B"/>
                </a:solidFill>
                <a:latin typeface="Aptos"/>
              </a:rPr>
              <a:t>IN PROGRESS</a:t>
            </a:r>
          </a:p>
        </p:txBody>
      </p:sp>
      <p:sp>
        <p:nvSpPr>
          <p:cNvPr id="25" name="Oval 24"/>
          <p:cNvSpPr/>
          <p:nvPr/>
        </p:nvSpPr>
        <p:spPr>
          <a:xfrm>
            <a:off x="6528816" y="2724912"/>
            <a:ext cx="91440" cy="91440"/>
          </a:xfrm>
          <a:prstGeom prst="ellipse">
            <a:avLst/>
          </a:prstGeom>
          <a:solidFill>
            <a:srgbClr val="B77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11696" y="2633472"/>
            <a:ext cx="4297680" cy="4846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3A52"/>
                </a:solidFill>
                <a:latin typeface="Aptos"/>
              </a:rPr>
              <a:t>End-to-end testing and bug fixing</a:t>
            </a:r>
          </a:p>
        </p:txBody>
      </p:sp>
      <p:sp>
        <p:nvSpPr>
          <p:cNvPr id="27" name="Oval 26"/>
          <p:cNvSpPr/>
          <p:nvPr/>
        </p:nvSpPr>
        <p:spPr>
          <a:xfrm>
            <a:off x="6528816" y="3383279"/>
            <a:ext cx="91440" cy="91440"/>
          </a:xfrm>
          <a:prstGeom prst="ellipse">
            <a:avLst/>
          </a:prstGeom>
          <a:solidFill>
            <a:srgbClr val="B77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11696" y="3291839"/>
            <a:ext cx="4297680" cy="4846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3A52"/>
                </a:solidFill>
                <a:latin typeface="Aptos"/>
              </a:rPr>
              <a:t>Event editing and image upload</a:t>
            </a:r>
          </a:p>
        </p:txBody>
      </p:sp>
      <p:sp>
        <p:nvSpPr>
          <p:cNvPr id="29" name="Oval 28"/>
          <p:cNvSpPr/>
          <p:nvPr/>
        </p:nvSpPr>
        <p:spPr>
          <a:xfrm>
            <a:off x="6528816" y="4041648"/>
            <a:ext cx="91440" cy="91440"/>
          </a:xfrm>
          <a:prstGeom prst="ellipse">
            <a:avLst/>
          </a:prstGeom>
          <a:solidFill>
            <a:srgbClr val="B77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11696" y="3950208"/>
            <a:ext cx="4297680" cy="4846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3A52"/>
                </a:solidFill>
                <a:latin typeface="Aptos"/>
              </a:rPr>
              <a:t>Waitlist and email confirmation</a:t>
            </a:r>
          </a:p>
        </p:txBody>
      </p:sp>
      <p:sp>
        <p:nvSpPr>
          <p:cNvPr id="31" name="Oval 30"/>
          <p:cNvSpPr/>
          <p:nvPr/>
        </p:nvSpPr>
        <p:spPr>
          <a:xfrm>
            <a:off x="6528816" y="4700016"/>
            <a:ext cx="91440" cy="91440"/>
          </a:xfrm>
          <a:prstGeom prst="ellipse">
            <a:avLst/>
          </a:prstGeom>
          <a:solidFill>
            <a:srgbClr val="B77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11696" y="4608576"/>
            <a:ext cx="4297680" cy="4846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3A52"/>
                </a:solidFill>
                <a:latin typeface="Aptos"/>
              </a:rPr>
              <a:t>Public GitHub repository and demo link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5394960"/>
            <a:ext cx="4526280" cy="365760"/>
          </a:xfrm>
          <a:prstGeom prst="roundRect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5477256"/>
            <a:ext cx="42519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15BDB"/>
                </a:solidFill>
                <a:latin typeface="Aptos"/>
              </a:rPr>
              <a:t>DEMO: CREATE → REGISTER → SCAN → VERIFY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510528"/>
            <a:ext cx="713232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6748F"/>
                </a:solidFill>
                <a:latin typeface="Aptos"/>
              </a:rPr>
              <a:t>CODE CARNIVAL 3.0  ·  ADSC, ATMIYA UNIVERSITY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6492240"/>
            <a:ext cx="18288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6748F"/>
                </a:solidFill>
                <a:latin typeface="Aptos"/>
              </a:rPr>
              <a:t>CodeSpark  •  895F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927080" y="-594360"/>
            <a:ext cx="1645920" cy="1645920"/>
          </a:xfrm>
          <a:prstGeom prst="ellipse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92840" y="502920"/>
            <a:ext cx="502920" cy="502920"/>
          </a:xfrm>
          <a:prstGeom prst="ellipse">
            <a:avLst/>
          </a:prstGeom>
          <a:solidFill>
            <a:srgbClr val="E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969264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15BDB"/>
                </a:solidFill>
                <a:latin typeface="Aptos"/>
              </a:rPr>
              <a:t>07 · THE GETAWAY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515600" cy="53035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92B52"/>
                </a:solidFill>
                <a:latin typeface="Aptos Display"/>
              </a:rPr>
              <a:t>Roadmap: from hackathon to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98448"/>
            <a:ext cx="658368" cy="4114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53312" y="1298448"/>
            <a:ext cx="256032" cy="41148"/>
          </a:xfrm>
          <a:prstGeom prst="rect">
            <a:avLst/>
          </a:prstGeom>
          <a:solidFill>
            <a:srgbClr val="7A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0" y="338328"/>
            <a:ext cx="5486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6748F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28800"/>
            <a:ext cx="3429000" cy="3794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1832" y="2103120"/>
            <a:ext cx="1078992" cy="292608"/>
          </a:xfrm>
          <a:prstGeom prst="roundRect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125979"/>
            <a:ext cx="1078992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15BDB"/>
                </a:solidFill>
                <a:latin typeface="Aptos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587752"/>
            <a:ext cx="292608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2B52"/>
                </a:solidFill>
                <a:latin typeface="Aptos Display"/>
              </a:rPr>
              <a:t>DURING THE HACKATHON</a:t>
            </a:r>
          </a:p>
        </p:txBody>
      </p:sp>
      <p:sp>
        <p:nvSpPr>
          <p:cNvPr id="13" name="Oval 12"/>
          <p:cNvSpPr/>
          <p:nvPr/>
        </p:nvSpPr>
        <p:spPr>
          <a:xfrm>
            <a:off x="969264" y="3364992"/>
            <a:ext cx="91440" cy="91440"/>
          </a:xfrm>
          <a:prstGeom prst="ellipse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52144" y="3273552"/>
            <a:ext cx="2697479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E3A52"/>
                </a:solidFill>
                <a:latin typeface="Aptos"/>
              </a:rPr>
              <a:t>Finish end-to-end testing</a:t>
            </a:r>
          </a:p>
        </p:txBody>
      </p:sp>
      <p:sp>
        <p:nvSpPr>
          <p:cNvPr id="15" name="Oval 14"/>
          <p:cNvSpPr/>
          <p:nvPr/>
        </p:nvSpPr>
        <p:spPr>
          <a:xfrm>
            <a:off x="969264" y="3968496"/>
            <a:ext cx="91440" cy="91440"/>
          </a:xfrm>
          <a:prstGeom prst="ellipse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52144" y="3877056"/>
            <a:ext cx="2697479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E3A52"/>
                </a:solidFill>
                <a:latin typeface="Aptos"/>
              </a:rPr>
              <a:t>Polish UI and demo data</a:t>
            </a:r>
          </a:p>
        </p:txBody>
      </p:sp>
      <p:sp>
        <p:nvSpPr>
          <p:cNvPr id="17" name="Oval 16"/>
          <p:cNvSpPr/>
          <p:nvPr/>
        </p:nvSpPr>
        <p:spPr>
          <a:xfrm>
            <a:off x="969264" y="4572000"/>
            <a:ext cx="91440" cy="91440"/>
          </a:xfrm>
          <a:prstGeom prst="ellipse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52144" y="4480560"/>
            <a:ext cx="2697479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E3A52"/>
                </a:solidFill>
                <a:latin typeface="Aptos"/>
              </a:rPr>
              <a:t>Demonstrate duplicate rejection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4215384" y="3273552"/>
            <a:ext cx="256032" cy="457200"/>
          </a:xfrm>
          <a:prstGeom prst="chevron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07992" y="1828800"/>
            <a:ext cx="3429000" cy="3794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736592" y="2103120"/>
            <a:ext cx="1078992" cy="292608"/>
          </a:xfrm>
          <a:prstGeom prst="roundRect">
            <a:avLst/>
          </a:prstGeom>
          <a:solidFill>
            <a:srgbClr val="E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36592" y="2125979"/>
            <a:ext cx="1078992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6B7D3"/>
                </a:solidFill>
                <a:latin typeface="Aptos"/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2587752"/>
            <a:ext cx="292608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2B52"/>
                </a:solidFill>
                <a:latin typeface="Aptos Display"/>
              </a:rPr>
              <a:t>RIGHT AFTER</a:t>
            </a:r>
          </a:p>
        </p:txBody>
      </p:sp>
      <p:sp>
        <p:nvSpPr>
          <p:cNvPr id="24" name="Oval 23"/>
          <p:cNvSpPr/>
          <p:nvPr/>
        </p:nvSpPr>
        <p:spPr>
          <a:xfrm>
            <a:off x="4764024" y="3364992"/>
            <a:ext cx="91440" cy="91440"/>
          </a:xfrm>
          <a:prstGeom prst="ellipse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46904" y="3273552"/>
            <a:ext cx="2697479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E3A52"/>
                </a:solidFill>
                <a:latin typeface="Aptos"/>
              </a:rPr>
              <a:t>Event editing and image upload</a:t>
            </a:r>
          </a:p>
        </p:txBody>
      </p:sp>
      <p:sp>
        <p:nvSpPr>
          <p:cNvPr id="26" name="Oval 25"/>
          <p:cNvSpPr/>
          <p:nvPr/>
        </p:nvSpPr>
        <p:spPr>
          <a:xfrm>
            <a:off x="4764024" y="3968496"/>
            <a:ext cx="91440" cy="91440"/>
          </a:xfrm>
          <a:prstGeom prst="ellipse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46904" y="3877056"/>
            <a:ext cx="2697479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E3A52"/>
                </a:solidFill>
                <a:latin typeface="Aptos"/>
              </a:rPr>
              <a:t>Waitlist, confirmations and reminders</a:t>
            </a:r>
          </a:p>
        </p:txBody>
      </p:sp>
      <p:sp>
        <p:nvSpPr>
          <p:cNvPr id="28" name="Oval 27"/>
          <p:cNvSpPr/>
          <p:nvPr/>
        </p:nvSpPr>
        <p:spPr>
          <a:xfrm>
            <a:off x="4764024" y="4572000"/>
            <a:ext cx="91440" cy="91440"/>
          </a:xfrm>
          <a:prstGeom prst="ellipse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46904" y="4480560"/>
            <a:ext cx="2697479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E3A52"/>
                </a:solidFill>
                <a:latin typeface="Aptos"/>
              </a:rPr>
              <a:t>Attendance certificates</a:t>
            </a:r>
          </a:p>
        </p:txBody>
      </p:sp>
      <p:sp>
        <p:nvSpPr>
          <p:cNvPr id="30" name="Chevron 29"/>
          <p:cNvSpPr/>
          <p:nvPr/>
        </p:nvSpPr>
        <p:spPr>
          <a:xfrm>
            <a:off x="8010144" y="3273552"/>
            <a:ext cx="256032" cy="457200"/>
          </a:xfrm>
          <a:prstGeom prst="chevron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302752" y="1828800"/>
            <a:ext cx="3429000" cy="3794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531352" y="2103120"/>
            <a:ext cx="1078992" cy="292608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31352" y="2125979"/>
            <a:ext cx="1078992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A67E6"/>
                </a:solidFill>
                <a:latin typeface="Aptos"/>
              </a:rPr>
              <a:t>PHASE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2" y="2587752"/>
            <a:ext cx="2926080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2B52"/>
                </a:solidFill>
                <a:latin typeface="Aptos Display"/>
              </a:rPr>
              <a:t>LONG-TERM VISION</a:t>
            </a:r>
          </a:p>
        </p:txBody>
      </p:sp>
      <p:sp>
        <p:nvSpPr>
          <p:cNvPr id="35" name="Oval 34"/>
          <p:cNvSpPr/>
          <p:nvPr/>
        </p:nvSpPr>
        <p:spPr>
          <a:xfrm>
            <a:off x="8558784" y="3364992"/>
            <a:ext cx="91440" cy="91440"/>
          </a:xfrm>
          <a:prstGeom prst="ellipse">
            <a:avLst/>
          </a:prstGeom>
          <a:solidFill>
            <a:srgbClr val="7A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41663" y="3273552"/>
            <a:ext cx="2697479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E3A52"/>
                </a:solidFill>
                <a:latin typeface="Aptos"/>
              </a:rPr>
              <a:t>Support multiple colleges and organisers</a:t>
            </a:r>
          </a:p>
        </p:txBody>
      </p:sp>
      <p:sp>
        <p:nvSpPr>
          <p:cNvPr id="37" name="Oval 36"/>
          <p:cNvSpPr/>
          <p:nvPr/>
        </p:nvSpPr>
        <p:spPr>
          <a:xfrm>
            <a:off x="8558784" y="3968496"/>
            <a:ext cx="91440" cy="91440"/>
          </a:xfrm>
          <a:prstGeom prst="ellipse">
            <a:avLst/>
          </a:prstGeom>
          <a:solidFill>
            <a:srgbClr val="7A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41663" y="3877056"/>
            <a:ext cx="2697479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E3A52"/>
                </a:solidFill>
                <a:latin typeface="Aptos"/>
              </a:rPr>
              <a:t>Pilot at a real college event</a:t>
            </a:r>
          </a:p>
        </p:txBody>
      </p:sp>
      <p:sp>
        <p:nvSpPr>
          <p:cNvPr id="39" name="Oval 38"/>
          <p:cNvSpPr/>
          <p:nvPr/>
        </p:nvSpPr>
        <p:spPr>
          <a:xfrm>
            <a:off x="8558784" y="4572000"/>
            <a:ext cx="91440" cy="91440"/>
          </a:xfrm>
          <a:prstGeom prst="ellipse">
            <a:avLst/>
          </a:prstGeom>
          <a:solidFill>
            <a:srgbClr val="7A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41663" y="4480560"/>
            <a:ext cx="2697479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E3A52"/>
                </a:solidFill>
                <a:latin typeface="Aptos"/>
              </a:rPr>
              <a:t>Explore a hosted institutional service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833872"/>
            <a:ext cx="100584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48F"/>
                </a:solidFill>
                <a:latin typeface="Aptos"/>
              </a:rPr>
              <a:t>Priority: prove the end-to-end registration and check-in flow before expanding scope.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510528"/>
            <a:ext cx="713232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6748F"/>
                </a:solidFill>
                <a:latin typeface="Aptos"/>
              </a:rPr>
              <a:t>CODE CARNIVAL 3.0  ·  ADSC, ATMIYA UNIVERSITY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6492240"/>
            <a:ext cx="18288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6748F"/>
                </a:solidFill>
                <a:latin typeface="Aptos"/>
              </a:rPr>
              <a:t>CodeSpark  •  895F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927080" y="-594360"/>
            <a:ext cx="1645920" cy="1645920"/>
          </a:xfrm>
          <a:prstGeom prst="ellipse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92840" y="502920"/>
            <a:ext cx="502920" cy="502920"/>
          </a:xfrm>
          <a:prstGeom prst="ellipse">
            <a:avLst/>
          </a:prstGeom>
          <a:solidFill>
            <a:srgbClr val="E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1645920" cy="292608"/>
          </a:xfrm>
          <a:prstGeom prst="roundRect">
            <a:avLst/>
          </a:prstGeom>
          <a:solidFill>
            <a:srgbClr val="31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681228"/>
            <a:ext cx="164592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08 · THE VAULT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170432"/>
            <a:ext cx="6583680" cy="6400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92B52"/>
                </a:solidFill>
                <a:latin typeface="Aptos Display"/>
              </a:rPr>
              <a:t>Project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658368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6748F"/>
                </a:solidFill>
                <a:latin typeface="Aptos"/>
              </a:rPr>
              <a:t>GitHub link supplied in the source template: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50592"/>
            <a:ext cx="640080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670048"/>
            <a:ext cx="4793876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r>
              <a:rPr lang="en-IN" sz="1400" b="1" dirty="0" smtClean="0">
                <a:solidFill>
                  <a:srgbClr val="315BDB"/>
                </a:solidFill>
                <a:latin typeface="Aptos"/>
              </a:rPr>
              <a:t>https</a:t>
            </a:r>
            <a:r>
              <a:rPr lang="en-IN" sz="1400" b="1" dirty="0">
                <a:solidFill>
                  <a:srgbClr val="315BDB"/>
                </a:solidFill>
                <a:latin typeface="Aptos"/>
              </a:rPr>
              <a:t>://github.com/nanda-anant/CodeSpark-EventEase</a:t>
            </a:r>
            <a:endParaRPr sz="1400" b="1" dirty="0">
              <a:solidFill>
                <a:srgbClr val="315BDB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4672" y="3474720"/>
            <a:ext cx="1051560" cy="292608"/>
          </a:xfrm>
          <a:prstGeom prst="roundRect">
            <a:avLst/>
          </a:prstGeom>
          <a:solidFill>
            <a:srgbClr val="E9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3497579"/>
            <a:ext cx="105156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19D75"/>
                </a:solidFill>
                <a:latin typeface="Aptos"/>
              </a:rPr>
              <a:t>PUBLIC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511296"/>
            <a:ext cx="448056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3A52"/>
                </a:solidFill>
                <a:latin typeface="Aptos"/>
              </a:rPr>
              <a:t>Repository visibility is intended to be public.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977639"/>
            <a:ext cx="1051560" cy="292608"/>
          </a:xfrm>
          <a:prstGeom prst="roundRect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4000500"/>
            <a:ext cx="105156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15BDB"/>
                </a:solidFill>
                <a:latin typeface="Aptos"/>
              </a:rPr>
              <a:t>README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014215"/>
            <a:ext cx="448056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3A52"/>
                </a:solidFill>
                <a:latin typeface="Aptos"/>
              </a:rPr>
              <a:t>Setup, features and team details.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480560"/>
            <a:ext cx="1051560" cy="292608"/>
          </a:xfrm>
          <a:prstGeom prst="roundRect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503420"/>
            <a:ext cx="1051560" cy="2194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A67E6"/>
                </a:solidFill>
                <a:latin typeface="Aptos"/>
              </a:rPr>
              <a:t>COMMITS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517136"/>
            <a:ext cx="448056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3A52"/>
                </a:solidFill>
                <a:latin typeface="Aptos"/>
              </a:rPr>
              <a:t>Regular contributions from team members.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960120"/>
            <a:ext cx="3383280" cy="480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79" y="1572768"/>
            <a:ext cx="2651760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92B52"/>
                </a:solidFill>
                <a:latin typeface="Aptos Display"/>
              </a:rPr>
              <a:t>THANK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176272"/>
            <a:ext cx="2651760" cy="6583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315BDB"/>
                </a:solidFill>
                <a:latin typeface="Aptos Display"/>
              </a:rPr>
              <a:t>YOU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3063240"/>
            <a:ext cx="1737360" cy="41148"/>
          </a:xfrm>
          <a:prstGeom prst="rect">
            <a:avLst/>
          </a:prstGeom>
          <a:solidFill>
            <a:srgbClr val="26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3879" y="3429000"/>
            <a:ext cx="265176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66748F"/>
                </a:solidFill>
                <a:latin typeface="Aptos"/>
              </a:rPr>
              <a:t>Questions &amp; Answers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160520"/>
            <a:ext cx="2651760" cy="3474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92B52"/>
                </a:solidFill>
                <a:latin typeface="Aptos"/>
              </a:rPr>
              <a:t>EventEase  •  CodeSpark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510528"/>
            <a:ext cx="713232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6748F"/>
                </a:solidFill>
                <a:latin typeface="Aptos"/>
              </a:rPr>
              <a:t>CODE CARNIVAL 3.0  ·  ADSC, ATMIYA UNIVERSITY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1061</Words>
  <Application>Microsoft Office PowerPoint</Application>
  <PresentationFormat>Widescreen</PresentationFormat>
  <Paragraphs>181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J K</cp:lastModifiedBy>
  <cp:revision>3</cp:revision>
  <dcterms:created xsi:type="dcterms:W3CDTF">2013-01-27T09:14:16Z</dcterms:created>
  <dcterms:modified xsi:type="dcterms:W3CDTF">2026-10-10T09:30:46Z</dcterms:modified>
  <cp:category/>
</cp:coreProperties>
</file>